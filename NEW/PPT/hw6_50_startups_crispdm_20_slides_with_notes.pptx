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my HW6 project presentation. In this project, I use the Kaggle 50 Startups dataset to predict startup profit. The analysis follows the CRISP-DM process and uses Scikit-learn regression models to compare different feature 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objective is to predict startup profit based on spending information. The model is designed to be interpretable, so it can support decisions by founders, investors, analysts, and managers.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contains 50 startup records. The target variable is Profit. The predictors include R&amp;D spending, administrative spending, marketing spending, and state. Since Profit is a continuous numeric value, this is a supervised regression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follows the six steps of CRISP-DM. This structure helps connect the business question, data exploration, model building, evaluation, and final deployment simulation into one complete workflow.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question is which spending patterns are associated with higher profit. Because the dataset is observational and small, I avoid claiming causality. The model can identify predictive associations, but it cannot prove that one feature directly causes profit to increase.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the interpretation more business-oriented, I use four expert perspectives. The marketing expert focuses on customer acquisition, the CEO focuses on decision usefulness, the policy expert considers regional factors, and the R&amp;D expert focuses on product innovation.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clean. It has 50 rows and 5 useful columns after removing the exported index column. There are no missing values and no duplicate rows. The state variable contains New York, California, and Florida.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feature has a business meaning. R&amp;D spending reflects product development and innovation. Marketing spending reflects market expansion and customer acquisition. Administration may represent operating scale. State may represent regional conditions, but the sample size is too small for strong regional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results show that R&amp;D Spend has the strongest direct linear relationship with Profit. Marketing Spend is also positively associated with Profit, but it is weaker than R&amp;D. Administration has a much weaker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data preparation, I separate the features and target variable. The categorical State feature is encoded with OneHotEncoder, not label encoding. I use ColumnTransformer and Pipeline to keep preprocessing and modeling in one reproducible workflow.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model is Linear Regression. This model is appropriate because the target is continuous, the dataset is small, and the results are easier to explain in a business and educational setting.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compare four feature sets. First, I test R&amp;D alone. Second, I add Marketing. Third, I include all numerical features. Finally, I include all features, including State. This helps test whether additional variables actually improve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models are evaluated with R2, MAE, and RMSE on the train-test split. Since the dataset has only 50 rows, I also use 5-fold cross-validation to check model stability and reduce reliance on one split.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shows that R&amp;D only performs very strongly. However, R&amp;D plus Marketing has the highest cross-validation R2 mean, at 0.9389. The numerical and all-feature models perform worse, which shows that more features do not automatically improve the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Multiple feature selection methods support the same conclusion. Pearson correlation, SelectKBest, RFE, LASSO, and Random Forest importance all show that R&amp;D Spend is the dominant predictive feature.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Random Forest feature importance result also confirms the same pattern. R&amp;D Spend contributes most of the predictive signal. Marketing is second, while Administration and State contribute very little in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main model uses R&amp;D Spend and Marketing Spend. R&amp;D alone is kept as the simplest benchmark. This choice balances predictive performance, business meaning, simplicity, and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deployment simulation, I use a sample startup with R&amp;D Spend of 120,000, Administration of 130,000, Marketing Spend of 250,000, and State as New York. The final model predicts a profit of about 150,042.94.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interpretation is that product innovation appears to be the strongest signal associated with profit. Marketing can support market reach, but its incremental value is small. Administration and State were tested, but they do not add meaningful predictive value in this small dataset.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recommended model is R&amp;D Spend plus Marketing Spend. R&amp;D Spend remains the strongest predictor, while Marketing provides useful business context. Because the dataset contains only 50 observations, the results should be treated as predictive associations rather than causal conclusions.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HW6: Kaggle 50 Startups Profit Prediction</a:t>
            </a:r>
          </a:p>
        </p:txBody>
      </p:sp>
      <p:sp>
        <p:nvSpPr>
          <p:cNvPr id="4" name="TextBox 3"/>
          <p:cNvSpPr txBox="1"/>
          <p:nvPr/>
        </p:nvSpPr>
        <p:spPr>
          <a:xfrm>
            <a:off x="621792" y="932688"/>
            <a:ext cx="7315200" cy="320040"/>
          </a:xfrm>
          <a:prstGeom prst="rect">
            <a:avLst/>
          </a:prstGeom>
          <a:noFill/>
        </p:spPr>
        <p:txBody>
          <a:bodyPr wrap="none">
            <a:spAutoFit/>
          </a:bodyPr>
          <a:lstStyle/>
          <a:p>
            <a:pPr>
              <a:defRPr sz="1700" b="0">
                <a:solidFill>
                  <a:srgbClr val="475569"/>
                </a:solidFill>
              </a:defRPr>
            </a:pPr>
            <a:r>
              <a:t>CRISP-DM + Scikit-learn Regression Project</a:t>
            </a:r>
          </a:p>
        </p:txBody>
      </p:sp>
      <p:sp>
        <p:nvSpPr>
          <p:cNvPr id="5" name="TextBox 4"/>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Prepared by: James Wang</a:t>
            </a:r>
          </a:p>
          <a:p>
            <a:pPr>
              <a:spcAft>
                <a:spcPts val="800"/>
              </a:spcAft>
              <a:defRPr sz="2200">
                <a:solidFill>
                  <a:srgbClr val="1F2937"/>
                </a:solidFill>
              </a:defRPr>
            </a:pPr>
            <a:r>
              <a:t>Target: startup Profit</a:t>
            </a:r>
          </a:p>
          <a:p>
            <a:pPr>
              <a:spcAft>
                <a:spcPts val="800"/>
              </a:spcAft>
              <a:defRPr sz="2200">
                <a:solidFill>
                  <a:srgbClr val="1F2937"/>
                </a:solidFill>
              </a:defRPr>
            </a:pPr>
            <a:r>
              <a:t>Final model: R&amp;D Spend + Marketing Spend</a:t>
            </a:r>
          </a:p>
        </p:txBody>
      </p:sp>
      <p:pic>
        <p:nvPicPr>
          <p:cNvPr id="6" name="Picture 5" descr="hw6_crispdm_excalidraw_infographic_a4_2k_upscaled.png"/>
          <p:cNvPicPr>
            <a:picLocks noChangeAspect="1"/>
          </p:cNvPicPr>
          <p:nvPr/>
        </p:nvPicPr>
        <p:blipFill>
          <a:blip r:embed="rId2"/>
          <a:stretch>
            <a:fillRect/>
          </a:stretch>
        </p:blipFill>
        <p:spPr>
          <a:xfrm>
            <a:off x="6446520" y="1325880"/>
            <a:ext cx="4617720" cy="6531140"/>
          </a:xfrm>
          <a:prstGeom prst="rect">
            <a:avLst/>
          </a:prstGeom>
        </p:spPr>
      </p:pic>
      <p:sp>
        <p:nvSpPr>
          <p:cNvPr id="7" name="Rounded Rectangle 6"/>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8" name="TextBox 7"/>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9" name="TextBox 8"/>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Project Objective</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Predict startup Profit</a:t>
            </a:r>
          </a:p>
          <a:p>
            <a:pPr>
              <a:spcAft>
                <a:spcPts val="800"/>
              </a:spcAft>
              <a:defRPr sz="2200">
                <a:solidFill>
                  <a:srgbClr val="1F2937"/>
                </a:solidFill>
              </a:defRPr>
            </a:pPr>
            <a:r>
              <a:t>Use business spending variables</a:t>
            </a:r>
          </a:p>
          <a:p>
            <a:pPr>
              <a:spcAft>
                <a:spcPts val="800"/>
              </a:spcAft>
              <a:defRPr sz="2200">
                <a:solidFill>
                  <a:srgbClr val="1F2937"/>
                </a:solidFill>
              </a:defRPr>
            </a:pPr>
            <a:r>
              <a:t>Build an interpretable regression model</a:t>
            </a:r>
          </a:p>
          <a:p>
            <a:pPr>
              <a:spcAft>
                <a:spcPts val="800"/>
              </a:spcAft>
              <a:defRPr sz="2200">
                <a:solidFill>
                  <a:srgbClr val="1F2937"/>
                </a:solidFill>
              </a:defRPr>
            </a:pPr>
            <a:r>
              <a:t>Support business decision-making</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Business spending -&gt; predicted Profit</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Dataset Overview</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Dataset: 50_Startups_dataset.csv</a:t>
            </a:r>
          </a:p>
          <a:p>
            <a:pPr>
              <a:spcAft>
                <a:spcPts val="800"/>
              </a:spcAft>
              <a:defRPr sz="2200">
                <a:solidFill>
                  <a:srgbClr val="1F2937"/>
                </a:solidFill>
              </a:defRPr>
            </a:pPr>
            <a:r>
              <a:t>Records: 50</a:t>
            </a:r>
          </a:p>
          <a:p>
            <a:pPr>
              <a:spcAft>
                <a:spcPts val="800"/>
              </a:spcAft>
              <a:defRPr sz="2200">
                <a:solidFill>
                  <a:srgbClr val="1F2937"/>
                </a:solidFill>
              </a:defRPr>
            </a:pPr>
            <a:r>
              <a:t>Target: Profit</a:t>
            </a:r>
          </a:p>
          <a:p>
            <a:pPr>
              <a:spcAft>
                <a:spcPts val="800"/>
              </a:spcAft>
              <a:defRPr sz="1900">
                <a:solidFill>
                  <a:srgbClr val="1F2937"/>
                </a:solidFill>
              </a:defRPr>
            </a:pPr>
            <a:r>
              <a:t>Features: R&amp;D Spend, Administration, Marketing Spend, State</a:t>
            </a:r>
          </a:p>
          <a:p>
            <a:pPr>
              <a:spcAft>
                <a:spcPts val="800"/>
              </a:spcAft>
              <a:defRPr sz="2200">
                <a:solidFill>
                  <a:srgbClr val="1F2937"/>
                </a:solidFill>
              </a:defRPr>
            </a:pPr>
            <a:r>
              <a:t>Problem type: supervised regression</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50 rows | 5 columns | clean dataset</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CRISP-DM Workflow</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1. Business Understanding</a:t>
            </a:r>
          </a:p>
          <a:p>
            <a:pPr>
              <a:spcAft>
                <a:spcPts val="800"/>
              </a:spcAft>
              <a:defRPr sz="2200">
                <a:solidFill>
                  <a:srgbClr val="1F2937"/>
                </a:solidFill>
              </a:defRPr>
            </a:pPr>
            <a:r>
              <a:t>2. Data Understanding</a:t>
            </a:r>
          </a:p>
          <a:p>
            <a:pPr>
              <a:spcAft>
                <a:spcPts val="800"/>
              </a:spcAft>
              <a:defRPr sz="2200">
                <a:solidFill>
                  <a:srgbClr val="1F2937"/>
                </a:solidFill>
              </a:defRPr>
            </a:pPr>
            <a:r>
              <a:t>3. Data Preparation</a:t>
            </a:r>
          </a:p>
          <a:p>
            <a:pPr>
              <a:spcAft>
                <a:spcPts val="800"/>
              </a:spcAft>
              <a:defRPr sz="2200">
                <a:solidFill>
                  <a:srgbClr val="1F2937"/>
                </a:solidFill>
              </a:defRPr>
            </a:pPr>
            <a:r>
              <a:t>4. Modeling</a:t>
            </a:r>
          </a:p>
          <a:p>
            <a:pPr>
              <a:spcAft>
                <a:spcPts val="800"/>
              </a:spcAft>
              <a:defRPr sz="2200">
                <a:solidFill>
                  <a:srgbClr val="1F2937"/>
                </a:solidFill>
              </a:defRPr>
            </a:pPr>
            <a:r>
              <a:t>5. Evaluation</a:t>
            </a:r>
          </a:p>
          <a:p>
            <a:pPr>
              <a:spcAft>
                <a:spcPts val="800"/>
              </a:spcAft>
              <a:defRPr sz="2200">
                <a:solidFill>
                  <a:srgbClr val="1F2937"/>
                </a:solidFill>
              </a:defRPr>
            </a:pPr>
            <a:r>
              <a:t>6. Deployment</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Plan -&gt; Model -&gt; Evaluate -&gt; Deploy</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Business Understanding</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1900">
                <a:solidFill>
                  <a:srgbClr val="1F2937"/>
                </a:solidFill>
              </a:defRPr>
            </a:pPr>
            <a:r>
              <a:t>Business question: which spending patterns are associated with higher profit?</a:t>
            </a:r>
          </a:p>
          <a:p>
            <a:pPr>
              <a:spcAft>
                <a:spcPts val="800"/>
              </a:spcAft>
              <a:defRPr sz="2200">
                <a:solidFill>
                  <a:srgbClr val="1F2937"/>
                </a:solidFill>
              </a:defRPr>
            </a:pPr>
            <a:r>
              <a:t>Startup resources are limited</a:t>
            </a:r>
          </a:p>
          <a:p>
            <a:pPr>
              <a:spcAft>
                <a:spcPts val="800"/>
              </a:spcAft>
              <a:defRPr sz="2200">
                <a:solidFill>
                  <a:srgbClr val="1F2937"/>
                </a:solidFill>
              </a:defRPr>
            </a:pPr>
            <a:r>
              <a:t>Model supports planning and resource allocation</a:t>
            </a:r>
          </a:p>
          <a:p>
            <a:pPr>
              <a:spcAft>
                <a:spcPts val="800"/>
              </a:spcAft>
              <a:defRPr sz="2200">
                <a:solidFill>
                  <a:srgbClr val="1F2937"/>
                </a:solidFill>
              </a:defRPr>
            </a:pPr>
            <a:r>
              <a:t>Important: prediction, not causality</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Use association language, not causal claims.</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Expert Panel View</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Marketing expert: market expansion</a:t>
            </a:r>
          </a:p>
          <a:p>
            <a:pPr>
              <a:spcAft>
                <a:spcPts val="800"/>
              </a:spcAft>
              <a:defRPr sz="2200">
                <a:solidFill>
                  <a:srgbClr val="1F2937"/>
                </a:solidFill>
              </a:defRPr>
            </a:pPr>
            <a:r>
              <a:t>Top CEO: decision usefulness</a:t>
            </a:r>
          </a:p>
          <a:p>
            <a:pPr>
              <a:spcAft>
                <a:spcPts val="800"/>
              </a:spcAft>
              <a:defRPr sz="2200">
                <a:solidFill>
                  <a:srgbClr val="1F2937"/>
                </a:solidFill>
              </a:defRPr>
            </a:pPr>
            <a:r>
              <a:t>Governor / policy expert: regional factors</a:t>
            </a:r>
          </a:p>
          <a:p>
            <a:pPr>
              <a:spcAft>
                <a:spcPts val="800"/>
              </a:spcAft>
              <a:defRPr sz="2200">
                <a:solidFill>
                  <a:srgbClr val="1F2937"/>
                </a:solidFill>
              </a:defRPr>
            </a:pPr>
            <a:r>
              <a:t>R&amp;D expert: product innovation</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Four perspectives, one model decision.</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Data Understanding</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Shape: 50 rows, 5 useful columns</a:t>
            </a:r>
          </a:p>
          <a:p>
            <a:pPr>
              <a:spcAft>
                <a:spcPts val="800"/>
              </a:spcAft>
              <a:defRPr sz="2200">
                <a:solidFill>
                  <a:srgbClr val="1F2937"/>
                </a:solidFill>
              </a:defRPr>
            </a:pPr>
            <a:r>
              <a:t>Missing values: 0</a:t>
            </a:r>
          </a:p>
          <a:p>
            <a:pPr>
              <a:spcAft>
                <a:spcPts val="800"/>
              </a:spcAft>
              <a:defRPr sz="2200">
                <a:solidFill>
                  <a:srgbClr val="1F2937"/>
                </a:solidFill>
              </a:defRPr>
            </a:pPr>
            <a:r>
              <a:t>Duplicate rows: 0</a:t>
            </a:r>
          </a:p>
          <a:p>
            <a:pPr>
              <a:spcAft>
                <a:spcPts val="800"/>
              </a:spcAft>
              <a:defRPr sz="2200">
                <a:solidFill>
                  <a:srgbClr val="1F2937"/>
                </a:solidFill>
              </a:defRPr>
            </a:pPr>
            <a:r>
              <a:t>States: New York, California, Florida</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Data quality check passed.</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Feature Meaning</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1900">
                <a:solidFill>
                  <a:srgbClr val="1F2937"/>
                </a:solidFill>
              </a:defRPr>
            </a:pPr>
            <a:r>
              <a:t>R&amp;D Spend: product innovation and technical capability</a:t>
            </a:r>
          </a:p>
          <a:p>
            <a:pPr>
              <a:spcAft>
                <a:spcPts val="800"/>
              </a:spcAft>
              <a:defRPr sz="1900">
                <a:solidFill>
                  <a:srgbClr val="1F2937"/>
                </a:solidFill>
              </a:defRPr>
            </a:pPr>
            <a:r>
              <a:t>Marketing Spend: brand exposure and customer acquisition</a:t>
            </a:r>
          </a:p>
          <a:p>
            <a:pPr>
              <a:spcAft>
                <a:spcPts val="800"/>
              </a:spcAft>
              <a:defRPr sz="1900">
                <a:solidFill>
                  <a:srgbClr val="1F2937"/>
                </a:solidFill>
              </a:defRPr>
            </a:pPr>
            <a:r>
              <a:t>Administration: operating scale and management structure</a:t>
            </a:r>
          </a:p>
          <a:p>
            <a:pPr>
              <a:spcAft>
                <a:spcPts val="800"/>
              </a:spcAft>
              <a:defRPr sz="2200">
                <a:solidFill>
                  <a:srgbClr val="1F2937"/>
                </a:solidFill>
              </a:defRPr>
            </a:pPr>
            <a:r>
              <a:t>State: regional auxiliary factor</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Feature meaning guides interpretation.</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Correlation Results</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R&amp;D Spend: 0.9729</a:t>
            </a:r>
          </a:p>
          <a:p>
            <a:pPr>
              <a:spcAft>
                <a:spcPts val="800"/>
              </a:spcAft>
              <a:defRPr sz="2200">
                <a:solidFill>
                  <a:srgbClr val="1F2937"/>
                </a:solidFill>
              </a:defRPr>
            </a:pPr>
            <a:r>
              <a:t>Marketing Spend: 0.7478</a:t>
            </a:r>
          </a:p>
          <a:p>
            <a:pPr>
              <a:spcAft>
                <a:spcPts val="800"/>
              </a:spcAft>
              <a:defRPr sz="2200">
                <a:solidFill>
                  <a:srgbClr val="1F2937"/>
                </a:solidFill>
              </a:defRPr>
            </a:pPr>
            <a:r>
              <a:t>Administration: 0.2007</a:t>
            </a:r>
          </a:p>
          <a:p>
            <a:pPr>
              <a:spcAft>
                <a:spcPts val="800"/>
              </a:spcAft>
              <a:defRPr sz="2200">
                <a:solidFill>
                  <a:srgbClr val="1F2937"/>
                </a:solidFill>
              </a:defRPr>
            </a:pPr>
            <a:r>
              <a:t>R&amp;D is the strongest direct linear signal</a:t>
            </a:r>
          </a:p>
        </p:txBody>
      </p:sp>
      <p:pic>
        <p:nvPicPr>
          <p:cNvPr id="5" name="Picture 4" descr="01_pearson_correlation.png"/>
          <p:cNvPicPr>
            <a:picLocks noChangeAspect="1"/>
          </p:cNvPicPr>
          <p:nvPr/>
        </p:nvPicPr>
        <p:blipFill>
          <a:blip r:embed="rId2"/>
          <a:stretch>
            <a:fillRect/>
          </a:stretch>
        </p:blipFill>
        <p:spPr>
          <a:xfrm>
            <a:off x="6446520" y="1325880"/>
            <a:ext cx="4617720" cy="2565400"/>
          </a:xfrm>
          <a:prstGeom prst="rect">
            <a:avLst/>
          </a:prstGeom>
        </p:spPr>
      </p:pic>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Data Preparation</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Separate X and y</a:t>
            </a:r>
          </a:p>
          <a:p>
            <a:pPr>
              <a:spcAft>
                <a:spcPts val="800"/>
              </a:spcAft>
              <a:defRPr sz="2200">
                <a:solidFill>
                  <a:srgbClr val="1F2937"/>
                </a:solidFill>
              </a:defRPr>
            </a:pPr>
            <a:r>
              <a:t>Use Profit as target</a:t>
            </a:r>
          </a:p>
          <a:p>
            <a:pPr>
              <a:spcAft>
                <a:spcPts val="800"/>
              </a:spcAft>
              <a:defRPr sz="2200">
                <a:solidFill>
                  <a:srgbClr val="1F2937"/>
                </a:solidFill>
              </a:defRPr>
            </a:pPr>
            <a:r>
              <a:t>Encode State with OneHotEncoder</a:t>
            </a:r>
          </a:p>
          <a:p>
            <a:pPr>
              <a:spcAft>
                <a:spcPts val="800"/>
              </a:spcAft>
              <a:defRPr sz="2200">
                <a:solidFill>
                  <a:srgbClr val="1F2937"/>
                </a:solidFill>
              </a:defRPr>
            </a:pPr>
            <a:r>
              <a:t>Use ColumnTransformer and Pipeline</a:t>
            </a:r>
          </a:p>
          <a:p>
            <a:pPr>
              <a:spcAft>
                <a:spcPts val="800"/>
              </a:spcAft>
              <a:defRPr sz="2200">
                <a:solidFill>
                  <a:srgbClr val="1F2937"/>
                </a:solidFill>
              </a:defRPr>
            </a:pPr>
            <a:r>
              <a:t>Train-test split: 80/20 with random_state=42</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Reproducible sklearn Pipeline</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Modeling Strategy</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Primary model: LinearRegression</a:t>
            </a:r>
          </a:p>
          <a:p>
            <a:pPr>
              <a:spcAft>
                <a:spcPts val="800"/>
              </a:spcAft>
              <a:defRPr sz="2200">
                <a:solidFill>
                  <a:srgbClr val="1F2937"/>
                </a:solidFill>
              </a:defRPr>
            </a:pPr>
            <a:r>
              <a:t>Target is continuous</a:t>
            </a:r>
          </a:p>
          <a:p>
            <a:pPr>
              <a:spcAft>
                <a:spcPts val="800"/>
              </a:spcAft>
              <a:defRPr sz="2200">
                <a:solidFill>
                  <a:srgbClr val="1F2937"/>
                </a:solidFill>
              </a:defRPr>
            </a:pPr>
            <a:r>
              <a:t>Dataset is small</a:t>
            </a:r>
          </a:p>
          <a:p>
            <a:pPr>
              <a:spcAft>
                <a:spcPts val="800"/>
              </a:spcAft>
              <a:defRPr sz="2200">
                <a:solidFill>
                  <a:srgbClr val="1F2937"/>
                </a:solidFill>
              </a:defRPr>
            </a:pPr>
            <a:r>
              <a:t>Model is interpretable</a:t>
            </a:r>
          </a:p>
          <a:p>
            <a:pPr>
              <a:spcAft>
                <a:spcPts val="800"/>
              </a:spcAft>
              <a:defRPr sz="2200">
                <a:solidFill>
                  <a:srgbClr val="1F2937"/>
                </a:solidFill>
              </a:defRPr>
            </a:pPr>
            <a:r>
              <a:t>Suitable for CRISP-DM teaching and reporting</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Simple model, clear explanation.</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Model Experiments</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Model 1: R&amp;D only</a:t>
            </a:r>
          </a:p>
          <a:p>
            <a:pPr>
              <a:spcAft>
                <a:spcPts val="800"/>
              </a:spcAft>
              <a:defRPr sz="2200">
                <a:solidFill>
                  <a:srgbClr val="1F2937"/>
                </a:solidFill>
              </a:defRPr>
            </a:pPr>
            <a:r>
              <a:t>Model 2: R&amp;D + Marketing</a:t>
            </a:r>
          </a:p>
          <a:p>
            <a:pPr>
              <a:spcAft>
                <a:spcPts val="800"/>
              </a:spcAft>
              <a:defRPr sz="2200">
                <a:solidFill>
                  <a:srgbClr val="1F2937"/>
                </a:solidFill>
              </a:defRPr>
            </a:pPr>
            <a:r>
              <a:t>Model 3: Numerical features</a:t>
            </a:r>
          </a:p>
          <a:p>
            <a:pPr>
              <a:spcAft>
                <a:spcPts val="800"/>
              </a:spcAft>
              <a:defRPr sz="2200">
                <a:solidFill>
                  <a:srgbClr val="1F2937"/>
                </a:solidFill>
              </a:defRPr>
            </a:pPr>
            <a:r>
              <a:t>Model 4: All features</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Test whether more features actually help.</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Evaluation Metrics</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R2 Score</a:t>
            </a:r>
          </a:p>
          <a:p>
            <a:pPr>
              <a:spcAft>
                <a:spcPts val="800"/>
              </a:spcAft>
              <a:defRPr sz="2200">
                <a:solidFill>
                  <a:srgbClr val="1F2937"/>
                </a:solidFill>
              </a:defRPr>
            </a:pPr>
            <a:r>
              <a:t>MAE</a:t>
            </a:r>
          </a:p>
          <a:p>
            <a:pPr>
              <a:spcAft>
                <a:spcPts val="800"/>
              </a:spcAft>
              <a:defRPr sz="2200">
                <a:solidFill>
                  <a:srgbClr val="1F2937"/>
                </a:solidFill>
              </a:defRPr>
            </a:pPr>
            <a:r>
              <a:t>RMSE</a:t>
            </a:r>
          </a:p>
          <a:p>
            <a:pPr>
              <a:spcAft>
                <a:spcPts val="800"/>
              </a:spcAft>
              <a:defRPr sz="2200">
                <a:solidFill>
                  <a:srgbClr val="1F2937"/>
                </a:solidFill>
              </a:defRPr>
            </a:pPr>
            <a:r>
              <a:t>CV R2 Mean and Std</a:t>
            </a:r>
          </a:p>
          <a:p>
            <a:pPr>
              <a:spcAft>
                <a:spcPts val="800"/>
              </a:spcAft>
              <a:defRPr sz="2200">
                <a:solidFill>
                  <a:srgbClr val="1F2937"/>
                </a:solidFill>
              </a:defRPr>
            </a:pPr>
            <a:r>
              <a:t>CV RMSE Mean and Std</a:t>
            </a:r>
          </a:p>
          <a:p>
            <a:pPr>
              <a:spcAft>
                <a:spcPts val="800"/>
              </a:spcAft>
              <a:defRPr sz="2200">
                <a:solidFill>
                  <a:srgbClr val="1F2937"/>
                </a:solidFill>
              </a:defRPr>
            </a:pPr>
            <a:r>
              <a:t>5-fold cross-validation</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Small dataset -&gt; use cross-validation.</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Model Comparison</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R&amp;D only: Test R2 0.9265 | CV R2 0.9374</a:t>
            </a:r>
          </a:p>
          <a:p>
            <a:pPr>
              <a:spcAft>
                <a:spcPts val="800"/>
              </a:spcAft>
              <a:defRPr sz="2200">
                <a:solidFill>
                  <a:srgbClr val="1F2937"/>
                </a:solidFill>
              </a:defRPr>
            </a:pPr>
            <a:r>
              <a:t>R&amp;D + Marketing: Test R2 0.9168 | CV R2 0.9389</a:t>
            </a:r>
          </a:p>
          <a:p>
            <a:pPr>
              <a:spcAft>
                <a:spcPts val="800"/>
              </a:spcAft>
              <a:defRPr sz="1900">
                <a:solidFill>
                  <a:srgbClr val="1F2937"/>
                </a:solidFill>
              </a:defRPr>
            </a:pPr>
            <a:r>
              <a:t>Numerical features: Test R2 0.9001 | CV R2 0.9338</a:t>
            </a:r>
          </a:p>
          <a:p>
            <a:pPr>
              <a:spcAft>
                <a:spcPts val="800"/>
              </a:spcAft>
              <a:defRPr sz="2200">
                <a:solidFill>
                  <a:srgbClr val="1F2937"/>
                </a:solidFill>
              </a:defRPr>
            </a:pPr>
            <a:r>
              <a:t>All features: Test R2 0.8987 | CV R2 0.9279</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Best CV R2 Mean: R&amp;D + Marketing</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Feature Selection Evidence</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Pearson correlation</a:t>
            </a:r>
          </a:p>
          <a:p>
            <a:pPr>
              <a:spcAft>
                <a:spcPts val="800"/>
              </a:spcAft>
              <a:defRPr sz="2200">
                <a:solidFill>
                  <a:srgbClr val="1F2937"/>
                </a:solidFill>
              </a:defRPr>
            </a:pPr>
            <a:r>
              <a:t>SelectKBest F-regression</a:t>
            </a:r>
          </a:p>
          <a:p>
            <a:pPr>
              <a:spcAft>
                <a:spcPts val="800"/>
              </a:spcAft>
              <a:defRPr sz="2200">
                <a:solidFill>
                  <a:srgbClr val="1F2937"/>
                </a:solidFill>
              </a:defRPr>
            </a:pPr>
            <a:r>
              <a:t>Recursive Feature Elimination</a:t>
            </a:r>
          </a:p>
          <a:p>
            <a:pPr>
              <a:spcAft>
                <a:spcPts val="800"/>
              </a:spcAft>
              <a:defRPr sz="2200">
                <a:solidFill>
                  <a:srgbClr val="1F2937"/>
                </a:solidFill>
              </a:defRPr>
            </a:pPr>
            <a:r>
              <a:t>LASSO regularization</a:t>
            </a:r>
          </a:p>
          <a:p>
            <a:pPr>
              <a:spcAft>
                <a:spcPts val="800"/>
              </a:spcAft>
              <a:defRPr sz="2200">
                <a:solidFill>
                  <a:srgbClr val="1F2937"/>
                </a:solidFill>
              </a:defRPr>
            </a:pPr>
            <a:r>
              <a:t>Random Forest importance</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Consensus: R&amp;D Spend dominates.</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Random Forest Importance</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R&amp;D Spend: 0.9228</a:t>
            </a:r>
          </a:p>
          <a:p>
            <a:pPr>
              <a:spcAft>
                <a:spcPts val="800"/>
              </a:spcAft>
              <a:defRPr sz="2200">
                <a:solidFill>
                  <a:srgbClr val="1F2937"/>
                </a:solidFill>
              </a:defRPr>
            </a:pPr>
            <a:r>
              <a:t>Marketing Spend: 0.0670</a:t>
            </a:r>
          </a:p>
          <a:p>
            <a:pPr>
              <a:spcAft>
                <a:spcPts val="800"/>
              </a:spcAft>
              <a:defRPr sz="2200">
                <a:solidFill>
                  <a:srgbClr val="1F2937"/>
                </a:solidFill>
              </a:defRPr>
            </a:pPr>
            <a:r>
              <a:t>Administration: 0.0072</a:t>
            </a:r>
          </a:p>
          <a:p>
            <a:pPr>
              <a:spcAft>
                <a:spcPts val="800"/>
              </a:spcAft>
              <a:defRPr sz="2200">
                <a:solidFill>
                  <a:srgbClr val="1F2937"/>
                </a:solidFill>
              </a:defRPr>
            </a:pPr>
            <a:r>
              <a:t>State total: about 0.0030</a:t>
            </a:r>
          </a:p>
        </p:txBody>
      </p:sp>
      <p:pic>
        <p:nvPicPr>
          <p:cNvPr id="5" name="Picture 4" descr="05_random_forest_importance.png"/>
          <p:cNvPicPr>
            <a:picLocks noChangeAspect="1"/>
          </p:cNvPicPr>
          <p:nvPr/>
        </p:nvPicPr>
        <p:blipFill>
          <a:blip r:embed="rId2"/>
          <a:stretch>
            <a:fillRect/>
          </a:stretch>
        </p:blipFill>
        <p:spPr>
          <a:xfrm>
            <a:off x="6446520" y="1325880"/>
            <a:ext cx="4617720" cy="2308860"/>
          </a:xfrm>
          <a:prstGeom prst="rect">
            <a:avLst/>
          </a:prstGeom>
        </p:spPr>
      </p:pic>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Final Model Decision</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1900">
                <a:solidFill>
                  <a:srgbClr val="1F2937"/>
                </a:solidFill>
              </a:defRPr>
            </a:pPr>
            <a:r>
              <a:t>Main model: Profit = f(R&amp;D Spend, Marketing Spend)</a:t>
            </a:r>
          </a:p>
          <a:p>
            <a:pPr>
              <a:spcAft>
                <a:spcPts val="800"/>
              </a:spcAft>
              <a:defRPr sz="2200">
                <a:solidFill>
                  <a:srgbClr val="1F2937"/>
                </a:solidFill>
              </a:defRPr>
            </a:pPr>
            <a:r>
              <a:t>Benchmark: Profit = f(R&amp;D Spend)</a:t>
            </a:r>
          </a:p>
          <a:p>
            <a:pPr>
              <a:spcAft>
                <a:spcPts val="800"/>
              </a:spcAft>
              <a:defRPr sz="2200">
                <a:solidFill>
                  <a:srgbClr val="1F2937"/>
                </a:solidFill>
              </a:defRPr>
            </a:pPr>
            <a:r>
              <a:t>Reason: best CV R2 Mean plus business meaning</a:t>
            </a:r>
          </a:p>
          <a:p>
            <a:pPr>
              <a:spcAft>
                <a:spcPts val="800"/>
              </a:spcAft>
              <a:defRPr sz="1900">
                <a:solidFill>
                  <a:srgbClr val="1F2937"/>
                </a:solidFill>
              </a:defRPr>
            </a:pPr>
            <a:r>
              <a:t>Avoid selecting the most complex model automatically</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Final model: R&amp;D + Marketing</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Deployment Simulation</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R&amp;D Spend: 120,000</a:t>
            </a:r>
          </a:p>
          <a:p>
            <a:pPr>
              <a:spcAft>
                <a:spcPts val="800"/>
              </a:spcAft>
              <a:defRPr sz="2200">
                <a:solidFill>
                  <a:srgbClr val="1F2937"/>
                </a:solidFill>
              </a:defRPr>
            </a:pPr>
            <a:r>
              <a:t>Administration: 130,000</a:t>
            </a:r>
          </a:p>
          <a:p>
            <a:pPr>
              <a:spcAft>
                <a:spcPts val="800"/>
              </a:spcAft>
              <a:defRPr sz="2200">
                <a:solidFill>
                  <a:srgbClr val="1F2937"/>
                </a:solidFill>
              </a:defRPr>
            </a:pPr>
            <a:r>
              <a:t>Marketing Spend: 250,000</a:t>
            </a:r>
          </a:p>
          <a:p>
            <a:pPr>
              <a:spcAft>
                <a:spcPts val="800"/>
              </a:spcAft>
              <a:defRPr sz="2200">
                <a:solidFill>
                  <a:srgbClr val="1F2937"/>
                </a:solidFill>
              </a:defRPr>
            </a:pPr>
            <a:r>
              <a:t>State: New York</a:t>
            </a:r>
          </a:p>
          <a:p>
            <a:pPr>
              <a:spcAft>
                <a:spcPts val="800"/>
              </a:spcAft>
              <a:defRPr sz="2200">
                <a:solidFill>
                  <a:srgbClr val="1F2937"/>
                </a:solidFill>
              </a:defRPr>
            </a:pPr>
            <a:r>
              <a:t>Predicted Profit: 150,042.94</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Learning-project deployment, not full production.</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Business Interpretation</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2200">
                <a:solidFill>
                  <a:srgbClr val="1F2937"/>
                </a:solidFill>
              </a:defRPr>
            </a:pPr>
            <a:r>
              <a:t>Prioritize product innovation</a:t>
            </a:r>
          </a:p>
          <a:p>
            <a:pPr>
              <a:spcAft>
                <a:spcPts val="800"/>
              </a:spcAft>
              <a:defRPr sz="2200">
                <a:solidFill>
                  <a:srgbClr val="1F2937"/>
                </a:solidFill>
              </a:defRPr>
            </a:pPr>
            <a:r>
              <a:t>Use Marketing to support market reach</a:t>
            </a:r>
          </a:p>
          <a:p>
            <a:pPr>
              <a:spcAft>
                <a:spcPts val="800"/>
              </a:spcAft>
              <a:defRPr sz="2200">
                <a:solidFill>
                  <a:srgbClr val="1F2937"/>
                </a:solidFill>
              </a:defRPr>
            </a:pPr>
            <a:r>
              <a:t>Administration and State add limited value here</a:t>
            </a:r>
          </a:p>
          <a:p>
            <a:pPr>
              <a:spcAft>
                <a:spcPts val="800"/>
              </a:spcAft>
              <a:defRPr sz="2200">
                <a:solidFill>
                  <a:srgbClr val="1F2937"/>
                </a:solidFill>
              </a:defRPr>
            </a:pPr>
            <a:r>
              <a:t>Do not overclaim causality</a:t>
            </a:r>
          </a:p>
        </p:txBody>
      </p:sp>
      <p:sp>
        <p:nvSpPr>
          <p:cNvPr id="5" name="Rounded Rectangle 4"/>
          <p:cNvSpPr/>
          <p:nvPr/>
        </p:nvSpPr>
        <p:spPr>
          <a:xfrm>
            <a:off x="6400800" y="2057400"/>
            <a:ext cx="4892040" cy="1828800"/>
          </a:xfrm>
          <a:prstGeom prst="roundRect">
            <a:avLst/>
          </a:prstGeom>
          <a:solidFill>
            <a:srgbClr val="FEF3C7"/>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0F172A"/>
                </a:solidFill>
              </a:defRPr>
            </a:pPr>
            <a:r>
              <a:t>Product innovation is the core signal.</a:t>
            </a:r>
          </a:p>
        </p:txBody>
      </p:sp>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502920"/>
          </a:xfrm>
          <a:prstGeom prst="rect">
            <a:avLst/>
          </a:prstGeom>
          <a:noFill/>
        </p:spPr>
        <p:txBody>
          <a:bodyPr wrap="none">
            <a:spAutoFit/>
          </a:bodyPr>
          <a:lstStyle/>
          <a:p>
            <a:pPr>
              <a:defRPr sz="3000" b="1">
                <a:solidFill>
                  <a:srgbClr val="1F2937"/>
                </a:solidFill>
              </a:defRPr>
            </a:pPr>
            <a:r>
              <a:t>Final Conclusion</a:t>
            </a:r>
          </a:p>
        </p:txBody>
      </p:sp>
      <p:sp>
        <p:nvSpPr>
          <p:cNvPr id="4" name="TextBox 3"/>
          <p:cNvSpPr txBox="1"/>
          <p:nvPr/>
        </p:nvSpPr>
        <p:spPr>
          <a:xfrm>
            <a:off x="594360" y="1417320"/>
            <a:ext cx="5257800" cy="4251960"/>
          </a:xfrm>
          <a:prstGeom prst="rect">
            <a:avLst/>
          </a:prstGeom>
          <a:noFill/>
        </p:spPr>
        <p:txBody>
          <a:bodyPr wrap="square">
            <a:spAutoFit/>
          </a:bodyPr>
          <a:lstStyle/>
          <a:p>
            <a:pPr>
              <a:spcAft>
                <a:spcPts val="800"/>
              </a:spcAft>
              <a:defRPr sz="1900">
                <a:solidFill>
                  <a:srgbClr val="1F2937"/>
                </a:solidFill>
              </a:defRPr>
            </a:pPr>
            <a:r>
              <a:t>Use R&amp;D Spend + Marketing Spend as the main explainable model</a:t>
            </a:r>
          </a:p>
          <a:p>
            <a:pPr>
              <a:spcAft>
                <a:spcPts val="800"/>
              </a:spcAft>
              <a:defRPr sz="2200">
                <a:solidFill>
                  <a:srgbClr val="1F2937"/>
                </a:solidFill>
              </a:defRPr>
            </a:pPr>
            <a:r>
              <a:t>Keep R&amp;D Spend as the benchmark</a:t>
            </a:r>
          </a:p>
          <a:p>
            <a:pPr>
              <a:spcAft>
                <a:spcPts val="800"/>
              </a:spcAft>
              <a:defRPr sz="2200">
                <a:solidFill>
                  <a:srgbClr val="1F2937"/>
                </a:solidFill>
              </a:defRPr>
            </a:pPr>
            <a:r>
              <a:t>Treat results as predictive associations</a:t>
            </a:r>
          </a:p>
          <a:p>
            <a:pPr>
              <a:spcAft>
                <a:spcPts val="800"/>
              </a:spcAft>
              <a:defRPr sz="2200">
                <a:solidFill>
                  <a:srgbClr val="1F2937"/>
                </a:solidFill>
              </a:defRPr>
            </a:pPr>
            <a:r>
              <a:t>Dataset is small: 50 observations</a:t>
            </a:r>
          </a:p>
        </p:txBody>
      </p:sp>
      <p:pic>
        <p:nvPicPr>
          <p:cNvPr id="5" name="Picture 4" descr="hw6_crispdm_excalidraw_infographic_a4_2k_upscaled.png"/>
          <p:cNvPicPr>
            <a:picLocks noChangeAspect="1"/>
          </p:cNvPicPr>
          <p:nvPr/>
        </p:nvPicPr>
        <p:blipFill>
          <a:blip r:embed="rId2"/>
          <a:stretch>
            <a:fillRect/>
          </a:stretch>
        </p:blipFill>
        <p:spPr>
          <a:xfrm>
            <a:off x="6446520" y="1325880"/>
            <a:ext cx="4617720" cy="6531140"/>
          </a:xfrm>
          <a:prstGeom prst="rect">
            <a:avLst/>
          </a:prstGeom>
        </p:spPr>
      </p:pic>
      <p:sp>
        <p:nvSpPr>
          <p:cNvPr id="6" name="Rounded Rectangle 5"/>
          <p:cNvSpPr/>
          <p:nvPr/>
        </p:nvSpPr>
        <p:spPr>
          <a:xfrm>
            <a:off x="594360" y="5650992"/>
            <a:ext cx="10972800" cy="502920"/>
          </a:xfrm>
          <a:prstGeom prst="roundRect">
            <a:avLst/>
          </a:prstGeom>
          <a:solidFill>
            <a:srgbClr val="F1F5F9"/>
          </a:solidFill>
          <a:ln w="63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defRPr>
            </a:pPr>
            <a:r>
              <a:t>Speaker notes included in PowerPoint Notes pane.</a:t>
            </a:r>
          </a:p>
        </p:txBody>
      </p:sp>
      <p:sp>
        <p:nvSpPr>
          <p:cNvPr id="7" name="TextBox 6"/>
          <p:cNvSpPr txBox="1"/>
          <p:nvPr/>
        </p:nvSpPr>
        <p:spPr>
          <a:xfrm>
            <a:off x="594360" y="6327648"/>
            <a:ext cx="6400800" cy="228600"/>
          </a:xfrm>
          <a:prstGeom prst="rect">
            <a:avLst/>
          </a:prstGeom>
          <a:noFill/>
        </p:spPr>
        <p:txBody>
          <a:bodyPr wrap="none">
            <a:spAutoFit/>
          </a:bodyPr>
          <a:lstStyle/>
          <a:p>
            <a:pPr>
              <a:defRPr sz="900" b="0">
                <a:solidFill>
                  <a:srgbClr val="475569"/>
                </a:solidFill>
              </a:defRPr>
            </a:pPr>
            <a:r>
              <a:t>HW6 | Kaggle 50 Startups | CRISP-DM</a:t>
            </a:r>
          </a:p>
        </p:txBody>
      </p:sp>
      <p:sp>
        <p:nvSpPr>
          <p:cNvPr id="8" name="TextBox 7"/>
          <p:cNvSpPr txBox="1"/>
          <p:nvPr/>
        </p:nvSpPr>
        <p:spPr>
          <a:xfrm>
            <a:off x="10972800" y="6327648"/>
            <a:ext cx="502920" cy="228600"/>
          </a:xfrm>
          <a:prstGeom prst="rect">
            <a:avLst/>
          </a:prstGeom>
          <a:noFill/>
        </p:spPr>
        <p:txBody>
          <a:bodyPr wrap="none">
            <a:spAutoFit/>
          </a:bodyPr>
          <a:lstStyle/>
          <a:p>
            <a:pPr algn="r">
              <a:defRPr sz="900" b="0">
                <a:solidFill>
                  <a:srgbClr val="475569"/>
                </a:solidFill>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