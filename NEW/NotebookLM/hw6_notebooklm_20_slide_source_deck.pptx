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NotebookLM source notes</a:t>
            </a:r>
          </a:p>
          <a:p/>
          <a:p>
            <a:r>
              <a:t>Slide title: HW6 Project Overview</a:t>
            </a:r>
          </a:p>
          <a:p/>
          <a:p>
            <a:r>
              <a:t>Key facts:</a:t>
            </a:r>
          </a:p>
          <a:p>
            <a:r>
              <a:t>- Project: Kaggle 50 Startups Profit Prediction</a:t>
            </a:r>
          </a:p>
          <a:p>
            <a:r>
              <a:t>- Methodology: CRISP-DM</a:t>
            </a:r>
          </a:p>
          <a:p>
            <a:r>
              <a:t>- Library: Scikit-learn</a:t>
            </a:r>
          </a:p>
          <a:p>
            <a:r>
              <a:t>- Task type: supervised regression</a:t>
            </a:r>
          </a:p>
          <a:p/>
          <a:p>
            <a:r>
              <a:t>Why it matters: This slide introduces the project scope and frames the work as a complete machine learning workflow.</a:t>
            </a:r>
          </a:p>
          <a:p/>
          <a:p>
            <a:r>
              <a:t>Narration: This project predicts startup profit using the Kaggle 50 Startups dataset. It follows CRISP-DM and uses Scikit-learn regression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NotebookLM source notes</a:t>
            </a:r>
          </a:p>
          <a:p/>
          <a:p>
            <a:r>
              <a:t>Slide title: Business Objective</a:t>
            </a:r>
          </a:p>
          <a:p/>
          <a:p>
            <a:r>
              <a:t>Key facts:</a:t>
            </a:r>
          </a:p>
          <a:p>
            <a:r>
              <a:t>- Goal: predict Profit from spending variables</a:t>
            </a:r>
          </a:p>
          <a:p>
            <a:r>
              <a:t>- Use case: resource allocation and scenario planning</a:t>
            </a:r>
          </a:p>
          <a:p>
            <a:r>
              <a:t>- Audience: founders, investors, analysts, and managers</a:t>
            </a:r>
          </a:p>
          <a:p>
            <a:r>
              <a:t>- Interpretation: predictive association, not causality</a:t>
            </a:r>
          </a:p>
          <a:p/>
          <a:p>
            <a:r>
              <a:t>Why it matters: The model supports better business discussion about limited startup resources.</a:t>
            </a:r>
          </a:p>
          <a:p/>
          <a:p>
            <a:r>
              <a:t>Narration: The business objective is to estimate profit from startup spending patterns. The result supports decision-making but should not be interpreted as causal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NotebookLM source notes</a:t>
            </a:r>
          </a:p>
          <a:p/>
          <a:p>
            <a:r>
              <a:t>Slide title: Dataset Structure</a:t>
            </a:r>
          </a:p>
          <a:p/>
          <a:p>
            <a:r>
              <a:t>Key facts:</a:t>
            </a:r>
          </a:p>
          <a:p>
            <a:r>
              <a:t>- File: 50_Startups_dataset.csv</a:t>
            </a:r>
          </a:p>
          <a:p>
            <a:r>
              <a:t>- Rows: 50</a:t>
            </a:r>
          </a:p>
          <a:p>
            <a:r>
              <a:t>- Target: Profit</a:t>
            </a:r>
          </a:p>
          <a:p>
            <a:r>
              <a:t>- Features: R&amp;D Spend, Administration, Marketing Spend, State</a:t>
            </a:r>
          </a:p>
          <a:p/>
          <a:p>
            <a:r>
              <a:t>Why it matters: The dataset is small, so cross-validation is important.</a:t>
            </a:r>
          </a:p>
          <a:p/>
          <a:p>
            <a:r>
              <a:t>Narration: The dataset has 50 records and five useful columns. Profit is the target variable, and the remaining columns are predictors.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NotebookLM source notes</a:t>
            </a:r>
          </a:p>
          <a:p/>
          <a:p>
            <a:r>
              <a:t>Slide title: CRISP-DM Six Steps</a:t>
            </a:r>
          </a:p>
          <a:p/>
          <a:p>
            <a:r>
              <a:t>Key facts:</a:t>
            </a:r>
          </a:p>
          <a:p>
            <a:r>
              <a:t>- 1. Business Understanding</a:t>
            </a:r>
          </a:p>
          <a:p>
            <a:r>
              <a:t>- 2. Data Understanding</a:t>
            </a:r>
          </a:p>
          <a:p>
            <a:r>
              <a:t>- 3. Data Preparation</a:t>
            </a:r>
          </a:p>
          <a:p>
            <a:r>
              <a:t>- 4. Modeling</a:t>
            </a:r>
          </a:p>
          <a:p>
            <a:r>
              <a:t>- 5. Evaluation</a:t>
            </a:r>
          </a:p>
          <a:p>
            <a:r>
              <a:t>- 6. Deployment</a:t>
            </a:r>
          </a:p>
          <a:p/>
          <a:p>
            <a:r>
              <a:t>Why it matters: CRISP-DM connects business questions, data analysis, modeling, evaluation, and deployment.</a:t>
            </a:r>
          </a:p>
          <a:p/>
          <a:p>
            <a:r>
              <a:t>Narration: The workflow follows the six steps of CRISP-DM, giving the project a clear structure from problem definition to deployment simulation.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NotebookLM source notes</a:t>
            </a:r>
          </a:p>
          <a:p/>
          <a:p>
            <a:r>
              <a:t>Slide title: Data Quality</a:t>
            </a:r>
          </a:p>
          <a:p/>
          <a:p>
            <a:r>
              <a:t>Key facts:</a:t>
            </a:r>
          </a:p>
          <a:p>
            <a:r>
              <a:t>- Dataset shape after cleaning: 50 rows, 5 columns</a:t>
            </a:r>
          </a:p>
          <a:p>
            <a:r>
              <a:t>- Missing values: 0</a:t>
            </a:r>
          </a:p>
          <a:p>
            <a:r>
              <a:t>- Duplicate rows: 0</a:t>
            </a:r>
          </a:p>
          <a:p>
            <a:r>
              <a:t>- States: New York, California, Florida</a:t>
            </a:r>
          </a:p>
          <a:p/>
          <a:p>
            <a:r>
              <a:t>Why it matters: Clean input data makes the modeling workflow simpler, but the small sample size remains a limitation.</a:t>
            </a:r>
          </a:p>
          <a:p/>
          <a:p>
            <a:r>
              <a:t>Narration: The dataset has no missing values and no duplicate rows. The state categories are New York, California, and Florida.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NotebookLM source notes</a:t>
            </a:r>
          </a:p>
          <a:p/>
          <a:p>
            <a:r>
              <a:t>Slide title: Feature Interpretation</a:t>
            </a:r>
          </a:p>
          <a:p/>
          <a:p>
            <a:r>
              <a:t>Key facts:</a:t>
            </a:r>
          </a:p>
          <a:p>
            <a:r>
              <a:t>- R&amp;D Spend: product innovation and technical capability</a:t>
            </a:r>
          </a:p>
          <a:p>
            <a:r>
              <a:t>- Marketing Spend: market expansion and customer acquisition</a:t>
            </a:r>
          </a:p>
          <a:p>
            <a:r>
              <a:t>- Administration: operating scale and management structure</a:t>
            </a:r>
          </a:p>
          <a:p>
            <a:r>
              <a:t>- State: regional auxiliary factor</a:t>
            </a:r>
          </a:p>
          <a:p/>
          <a:p>
            <a:r>
              <a:t>Why it matters: Feature meaning helps explain why a model is useful for business decisions.</a:t>
            </a:r>
          </a:p>
          <a:p/>
          <a:p>
            <a:r>
              <a:t>Narration: Each feature has a business meaning. R&amp;D is linked to innovation, Marketing to market reach, Administration to operating scale, and State to regional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NotebookLM source notes</a:t>
            </a:r>
          </a:p>
          <a:p/>
          <a:p>
            <a:r>
              <a:t>Slide title: Correlation Evidence</a:t>
            </a:r>
          </a:p>
          <a:p/>
          <a:p>
            <a:r>
              <a:t>Key facts:</a:t>
            </a:r>
          </a:p>
          <a:p>
            <a:r>
              <a:t>- R&amp;D Spend correlation with Profit: 0.9729</a:t>
            </a:r>
          </a:p>
          <a:p>
            <a:r>
              <a:t>- Marketing Spend correlation with Profit: 0.7478</a:t>
            </a:r>
          </a:p>
          <a:p>
            <a:r>
              <a:t>- Administration correlation with Profit: 0.2007</a:t>
            </a:r>
          </a:p>
          <a:p>
            <a:r>
              <a:t>- R&amp;D Spend has the strongest direct linear association</a:t>
            </a:r>
          </a:p>
          <a:p/>
          <a:p>
            <a:r>
              <a:t>Why it matters: Correlation gives an initial signal about which numeric features are most associated with Profit.</a:t>
            </a:r>
          </a:p>
          <a:p/>
          <a:p>
            <a:r>
              <a:t>Narration: R&amp;D Spend has the strongest correlation with Profit. Marketing is also positive but weaker, while Administration is much weaker.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NotebookLM source notes</a:t>
            </a:r>
          </a:p>
          <a:p/>
          <a:p>
            <a:r>
              <a:t>Slide title: Data Preparation</a:t>
            </a:r>
          </a:p>
          <a:p/>
          <a:p>
            <a:r>
              <a:t>Key facts:</a:t>
            </a:r>
          </a:p>
          <a:p>
            <a:r>
              <a:t>- Separate X features and y target</a:t>
            </a:r>
          </a:p>
          <a:p>
            <a:r>
              <a:t>- Use Profit as target</a:t>
            </a:r>
          </a:p>
          <a:p>
            <a:r>
              <a:t>- Encode State using OneHotEncoder</a:t>
            </a:r>
          </a:p>
          <a:p>
            <a:r>
              <a:t>- Use ColumnTransformer and Pipeline</a:t>
            </a:r>
          </a:p>
          <a:p>
            <a:r>
              <a:t>- Use train_test_split with test_size=0.2 and random_state=42</a:t>
            </a:r>
          </a:p>
          <a:p/>
          <a:p>
            <a:r>
              <a:t>Why it matters: A Scikit-learn Pipeline keeps preprocessing and modeling reproducible.</a:t>
            </a:r>
          </a:p>
          <a:p/>
          <a:p>
            <a:r>
              <a:t>Narration: The preparation step separates features and target, encodes the categorical State variable, and uses a Pipeline for reproducibility.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NotebookLM source notes</a:t>
            </a:r>
          </a:p>
          <a:p/>
          <a:p>
            <a:r>
              <a:t>Slide title: Modeling Strategy</a:t>
            </a:r>
          </a:p>
          <a:p/>
          <a:p>
            <a:r>
              <a:t>Key facts:</a:t>
            </a:r>
          </a:p>
          <a:p>
            <a:r>
              <a:t>- Primary model: LinearRegression</a:t>
            </a:r>
          </a:p>
          <a:p>
            <a:r>
              <a:t>- Reason: target is continuous</a:t>
            </a:r>
          </a:p>
          <a:p>
            <a:r>
              <a:t>- Reason: dataset is small</a:t>
            </a:r>
          </a:p>
          <a:p>
            <a:r>
              <a:t>- Reason: model is interpretable</a:t>
            </a:r>
          </a:p>
          <a:p/>
          <a:p>
            <a:r>
              <a:t>Why it matters: Linear Regression is simple, explainable, and appropriate for a teaching-focused regression project.</a:t>
            </a:r>
          </a:p>
          <a:p/>
          <a:p>
            <a:r>
              <a:t>Narration: Linear Regression was selected because it is interpretable and suitable for a small regression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NotebookLM source notes</a:t>
            </a:r>
          </a:p>
          <a:p/>
          <a:p>
            <a:r>
              <a:t>Slide title: Model Experiments</a:t>
            </a:r>
          </a:p>
          <a:p/>
          <a:p>
            <a:r>
              <a:t>Key facts:</a:t>
            </a:r>
          </a:p>
          <a:p>
            <a:r>
              <a:t>- Model 1: R&amp;D only</a:t>
            </a:r>
          </a:p>
          <a:p>
            <a:r>
              <a:t>- Model 2: R&amp;D + Marketing</a:t>
            </a:r>
          </a:p>
          <a:p>
            <a:r>
              <a:t>- Model 3: numerical features</a:t>
            </a:r>
          </a:p>
          <a:p>
            <a:r>
              <a:t>- Model 4: all features</a:t>
            </a:r>
          </a:p>
          <a:p/>
          <a:p>
            <a:r>
              <a:t>Why it matters: Comparing feature sets tests whether more variables actually improve predictive performance.</a:t>
            </a:r>
          </a:p>
          <a:p/>
          <a:p>
            <a:r>
              <a:t>Narration: The project compares four models to test the value of R&amp;D, Marketing, Administration, and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NotebookLM source notes</a:t>
            </a:r>
          </a:p>
          <a:p/>
          <a:p>
            <a:r>
              <a:t>Slide title: Evaluation Metrics</a:t>
            </a:r>
          </a:p>
          <a:p/>
          <a:p>
            <a:r>
              <a:t>Key facts:</a:t>
            </a:r>
          </a:p>
          <a:p>
            <a:r>
              <a:t>- Train-test metrics: R2, MAE, RMSE</a:t>
            </a:r>
          </a:p>
          <a:p>
            <a:r>
              <a:t>- Cross-validation: 5-fold KFold</a:t>
            </a:r>
          </a:p>
          <a:p>
            <a:r>
              <a:t>- CV metrics: CV R2 Mean, CV R2 Std, CV RMSE Mean, CV RMSE Std</a:t>
            </a:r>
          </a:p>
          <a:p>
            <a:r>
              <a:t>- Small dataset requires cross-validation</a:t>
            </a:r>
          </a:p>
          <a:p/>
          <a:p>
            <a:r>
              <a:t>Why it matters: Cross-validation reduces reliance on a single train-test split.</a:t>
            </a:r>
          </a:p>
          <a:p/>
          <a:p>
            <a:r>
              <a:t>Narration: The models are evaluated using both train-test metrics and 5-fold cross-validation because the dataset has only 50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NotebookLM source notes</a:t>
            </a:r>
          </a:p>
          <a:p/>
          <a:p>
            <a:r>
              <a:t>Slide title: Model Comparison Results</a:t>
            </a:r>
          </a:p>
          <a:p/>
          <a:p>
            <a:r>
              <a:t>Key facts:</a:t>
            </a:r>
          </a:p>
          <a:p>
            <a:r>
              <a:t>- R&amp;D only: Test R2 0.9265, CV R2 Mean 0.9374</a:t>
            </a:r>
          </a:p>
          <a:p>
            <a:r>
              <a:t>- R&amp;D + Marketing: Test R2 0.9168, CV R2 Mean 0.9389</a:t>
            </a:r>
          </a:p>
          <a:p>
            <a:r>
              <a:t>- Numerical Features: Test R2 0.9001, CV R2 Mean 0.9338</a:t>
            </a:r>
          </a:p>
          <a:p>
            <a:r>
              <a:t>- All Features: Test R2 0.8987, CV R2 Mean 0.9279</a:t>
            </a:r>
          </a:p>
          <a:p/>
          <a:p>
            <a:r>
              <a:t>Why it matters: R&amp;D + Marketing has the best CV R2 Mean, while the full model performs worse.</a:t>
            </a:r>
          </a:p>
          <a:p/>
          <a:p>
            <a:r>
              <a:t>Narration: The model comparison shows that R&amp;D plus Marketing has the highest cross-validation R2 mean, while the all-feature model performs worse.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NotebookLM source notes</a:t>
            </a:r>
          </a:p>
          <a:p/>
          <a:p>
            <a:r>
              <a:t>Slide title: Feature Selection Methods</a:t>
            </a:r>
          </a:p>
          <a:p/>
          <a:p>
            <a:r>
              <a:t>Key facts:</a:t>
            </a:r>
          </a:p>
          <a:p>
            <a:r>
              <a:t>- Pearson correlation</a:t>
            </a:r>
          </a:p>
          <a:p>
            <a:r>
              <a:t>- SelectKBest F-regression</a:t>
            </a:r>
          </a:p>
          <a:p>
            <a:r>
              <a:t>- Recursive Feature Elimination</a:t>
            </a:r>
          </a:p>
          <a:p>
            <a:r>
              <a:t>- LASSO</a:t>
            </a:r>
          </a:p>
          <a:p>
            <a:r>
              <a:t>- Random Forest importance</a:t>
            </a:r>
          </a:p>
          <a:p/>
          <a:p>
            <a:r>
              <a:t>Why it matters: Using several methods makes the feature conclusion more robust.</a:t>
            </a:r>
          </a:p>
          <a:p/>
          <a:p>
            <a:r>
              <a:t>Narration: Several feature selection methods were used to avoid relying on only one technique.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NotebookLM source notes</a:t>
            </a:r>
          </a:p>
          <a:p/>
          <a:p>
            <a:r>
              <a:t>Slide title: Feature Selection Consensus</a:t>
            </a:r>
          </a:p>
          <a:p/>
          <a:p>
            <a:r>
              <a:t>Key facts:</a:t>
            </a:r>
          </a:p>
          <a:p>
            <a:r>
              <a:t>- R&amp;D Spend is dominant</a:t>
            </a:r>
          </a:p>
          <a:p>
            <a:r>
              <a:t>- Marketing Spend is secondary</a:t>
            </a:r>
          </a:p>
          <a:p>
            <a:r>
              <a:t>- Administration has limited incremental value</a:t>
            </a:r>
          </a:p>
          <a:p>
            <a:r>
              <a:t>- State has very limited value in this small dataset</a:t>
            </a:r>
          </a:p>
          <a:p/>
          <a:p>
            <a:r>
              <a:t>Why it matters: The same conclusion appears across statistical, model-based, regularized, and tree-based methods.</a:t>
            </a:r>
          </a:p>
          <a:p/>
          <a:p>
            <a:r>
              <a:t>Narration: The feature selection methods consistently identify R&amp;D Spend as the strongest feature, with Marketing as a secondary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NotebookLM source notes</a:t>
            </a:r>
          </a:p>
          <a:p/>
          <a:p>
            <a:r>
              <a:t>Slide title: Final Model Recommendation</a:t>
            </a:r>
          </a:p>
          <a:p/>
          <a:p>
            <a:r>
              <a:t>Key facts:</a:t>
            </a:r>
          </a:p>
          <a:p>
            <a:r>
              <a:t>- Main model: Profit = f(R&amp;D Spend, Marketing Spend)</a:t>
            </a:r>
          </a:p>
          <a:p>
            <a:r>
              <a:t>- Benchmark model: Profit = f(R&amp;D Spend)</a:t>
            </a:r>
          </a:p>
          <a:p>
            <a:r>
              <a:t>- Do not choose the most complex model automatically</a:t>
            </a:r>
          </a:p>
          <a:p>
            <a:r>
              <a:t>- Prefer performance, stability, simplicity, and interpretability</a:t>
            </a:r>
          </a:p>
          <a:p/>
          <a:p>
            <a:r>
              <a:t>Why it matters: The final model balances predictive performance with business meaning.</a:t>
            </a:r>
          </a:p>
          <a:p/>
          <a:p>
            <a:r>
              <a:t>Narration: The recommended main model uses R&amp;D Spend and Marketing Spend. R&amp;D alone remains the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NotebookLM source notes</a:t>
            </a:r>
          </a:p>
          <a:p/>
          <a:p>
            <a:r>
              <a:t>Slide title: Deployment Simulation</a:t>
            </a:r>
          </a:p>
          <a:p/>
          <a:p>
            <a:r>
              <a:t>Key facts:</a:t>
            </a:r>
          </a:p>
          <a:p>
            <a:r>
              <a:t>- Sample R&amp;D Spend: 120,000</a:t>
            </a:r>
          </a:p>
          <a:p>
            <a:r>
              <a:t>- Sample Administration: 130,000</a:t>
            </a:r>
          </a:p>
          <a:p>
            <a:r>
              <a:t>- Sample Marketing Spend: 250,000</a:t>
            </a:r>
          </a:p>
          <a:p>
            <a:r>
              <a:t>- Sample State: New York</a:t>
            </a:r>
          </a:p>
          <a:p>
            <a:r>
              <a:t>- Predicted Profit: 150,042.94</a:t>
            </a:r>
          </a:p>
          <a:p/>
          <a:p>
            <a:r>
              <a:t>Why it matters: The deployment step demonstrates how the final pipeline can make a prediction for a new startup.</a:t>
            </a:r>
          </a:p>
          <a:p/>
          <a:p>
            <a:r>
              <a:t>Narration: The deployment simulation predicts profit for a sample startup and saves the model pipeline for reuse.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NotebookLM source notes</a:t>
            </a:r>
          </a:p>
          <a:p/>
          <a:p>
            <a:r>
              <a:t>Slide title: Expert Consensus</a:t>
            </a:r>
          </a:p>
          <a:p/>
          <a:p>
            <a:r>
              <a:t>Key facts:</a:t>
            </a:r>
          </a:p>
          <a:p>
            <a:r>
              <a:t>- Marketing expert: Marketing supports market reach</a:t>
            </a:r>
          </a:p>
          <a:p>
            <a:r>
              <a:t>- Top CEO: model must be explainable in business meetings</a:t>
            </a:r>
          </a:p>
          <a:p>
            <a:r>
              <a:t>- Policy expert: State needs more data before strong claims</a:t>
            </a:r>
          </a:p>
          <a:p>
            <a:r>
              <a:t>- R&amp;D expert: R&amp;D is the core innovation signal</a:t>
            </a:r>
          </a:p>
          <a:p/>
          <a:p>
            <a:r>
              <a:t>Why it matters: The expert panel makes the model interpretation more realistic and business-facing.</a:t>
            </a:r>
          </a:p>
          <a:p/>
          <a:p>
            <a:r>
              <a:t>Narration: The expert panel agrees that R&amp;D is the core signal, Marketing adds business context, and State should not be overinterpreted.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NotebookLM source notes</a:t>
            </a:r>
          </a:p>
          <a:p/>
          <a:p>
            <a:r>
              <a:t>Slide title: Limitations</a:t>
            </a:r>
          </a:p>
          <a:p/>
          <a:p>
            <a:r>
              <a:t>Key facts:</a:t>
            </a:r>
          </a:p>
          <a:p>
            <a:r>
              <a:t>- Only 50 observations</a:t>
            </a:r>
          </a:p>
          <a:p>
            <a:r>
              <a:t>- Observational data</a:t>
            </a:r>
          </a:p>
          <a:p>
            <a:r>
              <a:t>- Possible multicollinearity between R&amp;D and Marketing</a:t>
            </a:r>
          </a:p>
          <a:p>
            <a:r>
              <a:t>- State has limited samples per category</a:t>
            </a:r>
          </a:p>
          <a:p>
            <a:r>
              <a:t>- Results are predictive associations, not causal conclusions</a:t>
            </a:r>
          </a:p>
          <a:p/>
          <a:p>
            <a:r>
              <a:t>Why it matters: Limitations prevent overclaiming and guide future improvements.</a:t>
            </a:r>
          </a:p>
          <a:p/>
          <a:p>
            <a:r>
              <a:t>Narration: The dataset is small and observational, so the results should be interpreted carefully.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NotebookLM source notes</a:t>
            </a:r>
          </a:p>
          <a:p/>
          <a:p>
            <a:r>
              <a:t>Slide title: Artifacts Produced</a:t>
            </a:r>
          </a:p>
          <a:p/>
          <a:p>
            <a:r>
              <a:t>Key facts:</a:t>
            </a:r>
          </a:p>
          <a:p>
            <a:r>
              <a:t>- V1 and V2 CRISP-DM Python scripts</a:t>
            </a:r>
          </a:p>
          <a:p>
            <a:r>
              <a:t>- Technical charts and CSV summaries</a:t>
            </a:r>
          </a:p>
          <a:p>
            <a:r>
              <a:t>- Final model pipeline</a:t>
            </a:r>
          </a:p>
          <a:p>
            <a:r>
              <a:t>- 20-slide PPT with notes and male narration</a:t>
            </a:r>
          </a:p>
          <a:p>
            <a:r>
              <a:t>- HeyGen and Hyperframes packages</a:t>
            </a:r>
          </a:p>
          <a:p/>
          <a:p>
            <a:r>
              <a:t>Why it matters: The project includes code, reports, visuals, models, and presentation materials.</a:t>
            </a:r>
          </a:p>
          <a:p/>
          <a:p>
            <a:r>
              <a:t>Narration: The final project includes scripts, charts, summaries, models, and presentation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NotebookLM source notes</a:t>
            </a:r>
          </a:p>
          <a:p/>
          <a:p>
            <a:r>
              <a:t>Slide title: Final Conclusion</a:t>
            </a:r>
          </a:p>
          <a:p/>
          <a:p>
            <a:r>
              <a:t>Key facts:</a:t>
            </a:r>
          </a:p>
          <a:p>
            <a:r>
              <a:t>- R&amp;D Spend is the strongest predictor</a:t>
            </a:r>
          </a:p>
          <a:p>
            <a:r>
              <a:t>- Marketing Spend adds secondary business value</a:t>
            </a:r>
          </a:p>
          <a:p>
            <a:r>
              <a:t>- Administration and State add limited value here</a:t>
            </a:r>
          </a:p>
          <a:p>
            <a:r>
              <a:t>- Use R&amp;D + Marketing as the main model</a:t>
            </a:r>
          </a:p>
          <a:p>
            <a:r>
              <a:t>- Keep R&amp;D only as the benchmark</a:t>
            </a:r>
          </a:p>
          <a:p/>
          <a:p>
            <a:r>
              <a:t>Why it matters: This conclusion is supported by model evaluation and feature selection evidence.</a:t>
            </a:r>
          </a:p>
          <a:p/>
          <a:p>
            <a:r>
              <a:t>Narration: The final conclusion is to use R&amp;D Spend plus Marketing Spend as the main model, while keeping R&amp;D Spend alone as the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1. HW6 Project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39496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Key facts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Project: Kaggle 50 Startups Profit Prediction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Methodology: CRISP-DM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Library: Scikit-learn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Task type: supervised regression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43000"/>
            <a:ext cx="507492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Narration summary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This project predicts startup profit using the Kaggle 50 Startups dataset. It follows CRISP-DM and uses Scikit-learn regression models.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349240"/>
            <a:ext cx="10789920" cy="777240"/>
          </a:xfrm>
          <a:prstGeom prst="roundRect">
            <a:avLst/>
          </a:prstGeom>
          <a:solidFill>
            <a:srgbClr val="FEF3C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Why it matters: This slide introduces the project scope and frames the work as a complete machine learning workflow.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2. Business Objective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39496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Key facts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Goal: predict Profit from spending variables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Use case: resource allocation and scenario planning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Audience: founders, investors, analysts, and managers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Interpretation: predictive association, not causality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43000"/>
            <a:ext cx="507492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Narration summary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The business objective is to estimate profit from startup spending patterns. The result supports decision-making but should not be interpreted as causal proof.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349240"/>
            <a:ext cx="10789920" cy="777240"/>
          </a:xfrm>
          <a:prstGeom prst="roundRect">
            <a:avLst/>
          </a:prstGeom>
          <a:solidFill>
            <a:srgbClr val="FEF3C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Why it matters: The model supports better business discussion about limited startup resources.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3. Dataset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39496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Key facts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File: 50_Startups_dataset.csv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Rows: 50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Target: Profit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Features: R&amp;D Spend, Administration, Marketing Spend, State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43000"/>
            <a:ext cx="507492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Narration summary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The dataset has 50 records and five useful columns. Profit is the target variable, and the remaining columns are predictors.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349240"/>
            <a:ext cx="10789920" cy="777240"/>
          </a:xfrm>
          <a:prstGeom prst="roundRect">
            <a:avLst/>
          </a:prstGeom>
          <a:solidFill>
            <a:srgbClr val="FEF3C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Why it matters: The dataset is small, so cross-validation is important.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4. CRISP-DM Six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39496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Key facts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1. Business Understanding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2. Data Understanding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3. Data Preparation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4. Modeling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5. Evaluation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6.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43000"/>
            <a:ext cx="507492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Narration summary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The workflow follows the six steps of CRISP-DM, giving the project a clear structure from problem definition to deployment simulation.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349240"/>
            <a:ext cx="10789920" cy="777240"/>
          </a:xfrm>
          <a:prstGeom prst="roundRect">
            <a:avLst/>
          </a:prstGeom>
          <a:solidFill>
            <a:srgbClr val="FEF3C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Why it matters: CRISP-DM connects business questions, data analysis, modeling, evaluation, and 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5. Data Quality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39496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Key facts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Dataset shape after cleaning: 50 rows, 5 columns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Missing values: 0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Duplicate rows: 0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States: New York, California, Florida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43000"/>
            <a:ext cx="507492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Narration summary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The dataset has no missing values and no duplicate rows. The state categories are New York, California, and Florida.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349240"/>
            <a:ext cx="10789920" cy="777240"/>
          </a:xfrm>
          <a:prstGeom prst="roundRect">
            <a:avLst/>
          </a:prstGeom>
          <a:solidFill>
            <a:srgbClr val="FEF3C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Why it matters: Clean input data makes the modeling workflow simpler, but the small sample size remains a limitation.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6. Feature Interpretation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39496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Key facts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R&amp;D Spend: product innovation and technical capability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Marketing Spend: market expansion and customer acquisition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Administration: operating scale and management structure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State: regional auxiliary factor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43000"/>
            <a:ext cx="507492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Narration summary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Each feature has a business meaning. R&amp;D is linked to innovation, Marketing to market reach, Administration to operating scale, and State to regional context.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349240"/>
            <a:ext cx="10789920" cy="777240"/>
          </a:xfrm>
          <a:prstGeom prst="roundRect">
            <a:avLst/>
          </a:prstGeom>
          <a:solidFill>
            <a:srgbClr val="FEF3C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Why it matters: Feature meaning helps explain why a model is useful for business decisions.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7. Correlation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39496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Key facts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R&amp;D Spend correlation with Profit: 0.9729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Marketing Spend correlation with Profit: 0.7478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Administration correlation with Profit: 0.2007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R&amp;D Spend has the strongest direct linear association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43000"/>
            <a:ext cx="507492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Narration summary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R&amp;D Spend has the strongest correlation with Profit. Marketing is also positive but weaker, while Administration is much weaker.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349240"/>
            <a:ext cx="10789920" cy="777240"/>
          </a:xfrm>
          <a:prstGeom prst="roundRect">
            <a:avLst/>
          </a:prstGeom>
          <a:solidFill>
            <a:srgbClr val="FEF3C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Why it matters: Correlation gives an initial signal about which numeric features are most associated with Profit.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8. Data Preparation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39496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Key facts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Separate X features and y target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Use Profit as target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Encode State using OneHotEncoder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Use ColumnTransformer and Pipeline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Use train_test_split with test_size=0.2 and random_state=42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43000"/>
            <a:ext cx="507492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Narration summary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The preparation step separates features and target, encodes the categorical State variable, and uses a Pipeline for reproducibility.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349240"/>
            <a:ext cx="10789920" cy="777240"/>
          </a:xfrm>
          <a:prstGeom prst="roundRect">
            <a:avLst/>
          </a:prstGeom>
          <a:solidFill>
            <a:srgbClr val="FEF3C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Why it matters: A Scikit-learn Pipeline keeps preprocessing and modeling reproducible.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9. Modeling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39496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Key facts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Primary model: LinearRegression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Reason: target is continuous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Reason: dataset is small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Reason: model is interpretable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43000"/>
            <a:ext cx="507492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Narration summary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Linear Regression was selected because it is interpretable and suitable for a small regression dataset.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349240"/>
            <a:ext cx="10789920" cy="777240"/>
          </a:xfrm>
          <a:prstGeom prst="roundRect">
            <a:avLst/>
          </a:prstGeom>
          <a:solidFill>
            <a:srgbClr val="FEF3C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Why it matters: Linear Regression is simple, explainable, and appropriate for a teaching-focused regression project.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10. Model Experiments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39496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Key facts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Model 1: R&amp;D only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Model 2: R&amp;D + Marketing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Model 3: numerical features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Model 4: all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43000"/>
            <a:ext cx="507492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Narration summary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The project compares four models to test the value of R&amp;D, Marketing, Administration, and State.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349240"/>
            <a:ext cx="10789920" cy="777240"/>
          </a:xfrm>
          <a:prstGeom prst="roundRect">
            <a:avLst/>
          </a:prstGeom>
          <a:solidFill>
            <a:srgbClr val="FEF3C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Why it matters: Comparing feature sets tests whether more variables actually improve predictive performance.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11. Evaluation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39496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Key facts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Train-test metrics: R2, MAE, RMSE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Cross-validation: 5-fold KFold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CV metrics: CV R2 Mean, CV R2 Std, CV RMSE Mean, CV RMSE Std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Small dataset requires cross-validation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43000"/>
            <a:ext cx="507492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Narration summary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The models are evaluated using both train-test metrics and 5-fold cross-validation because the dataset has only 50 rows.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349240"/>
            <a:ext cx="10789920" cy="777240"/>
          </a:xfrm>
          <a:prstGeom prst="roundRect">
            <a:avLst/>
          </a:prstGeom>
          <a:solidFill>
            <a:srgbClr val="FEF3C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Why it matters: Cross-validation reduces reliance on a single train-test split.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12. Model Comparison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39496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Key facts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R&amp;D only: Test R2 0.9265, CV R2 Mean 0.9374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R&amp;D + Marketing: Test R2 0.9168, CV R2 Mean 0.9389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Numerical Features: Test R2 0.9001, CV R2 Mean 0.9338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All Features: Test R2 0.8987, CV R2 Mean 0.9279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43000"/>
            <a:ext cx="507492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Narration summary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The model comparison shows that R&amp;D plus Marketing has the highest cross-validation R2 mean, while the all-feature model performs worse.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349240"/>
            <a:ext cx="10789920" cy="777240"/>
          </a:xfrm>
          <a:prstGeom prst="roundRect">
            <a:avLst/>
          </a:prstGeom>
          <a:solidFill>
            <a:srgbClr val="FEF3C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Why it matters: R&amp;D + Marketing has the best CV R2 Mean, while the full model performs worse.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13. Feature Selection Methods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39496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Key facts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Pearson correlation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SelectKBest F-regression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Recursive Feature Elimination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LASSO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Random Forest importance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43000"/>
            <a:ext cx="507492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Narration summary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Several feature selection methods were used to avoid relying on only one technique.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349240"/>
            <a:ext cx="10789920" cy="777240"/>
          </a:xfrm>
          <a:prstGeom prst="roundRect">
            <a:avLst/>
          </a:prstGeom>
          <a:solidFill>
            <a:srgbClr val="FEF3C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Why it matters: Using several methods makes the feature conclusion more robust.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14. Feature Selection Consensus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39496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Key facts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R&amp;D Spend is dominant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Marketing Spend is secondary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Administration has limited incremental value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State has very limited value in this small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43000"/>
            <a:ext cx="507492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Narration summary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The feature selection methods consistently identify R&amp;D Spend as the strongest feature, with Marketing as a secondary feature.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349240"/>
            <a:ext cx="10789920" cy="777240"/>
          </a:xfrm>
          <a:prstGeom prst="roundRect">
            <a:avLst/>
          </a:prstGeom>
          <a:solidFill>
            <a:srgbClr val="FEF3C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Why it matters: The same conclusion appears across statistical, model-based, regularized, and tree-based methods.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15. Final Model Recommendation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39496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Key facts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Main model: Profit = f(R&amp;D Spend, Marketing Spend)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Benchmark model: Profit = f(R&amp;D Spend)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Do not choose the most complex model automatically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Prefer performance, stability, simplicity, and interpretability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43000"/>
            <a:ext cx="507492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Narration summary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The recommended main model uses R&amp;D Spend and Marketing Spend. R&amp;D alone remains the benchmark.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349240"/>
            <a:ext cx="10789920" cy="777240"/>
          </a:xfrm>
          <a:prstGeom prst="roundRect">
            <a:avLst/>
          </a:prstGeom>
          <a:solidFill>
            <a:srgbClr val="FEF3C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Why it matters: The final model balances predictive performance with business meaning.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16. Deployment Simulation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39496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Key facts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Sample R&amp;D Spend: 120,000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Sample Administration: 130,000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Sample Marketing Spend: 250,000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Sample State: New York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Predicted Profit: 150,042.94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43000"/>
            <a:ext cx="507492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Narration summary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The deployment simulation predicts profit for a sample startup and saves the model pipeline for reuse.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349240"/>
            <a:ext cx="10789920" cy="777240"/>
          </a:xfrm>
          <a:prstGeom prst="roundRect">
            <a:avLst/>
          </a:prstGeom>
          <a:solidFill>
            <a:srgbClr val="FEF3C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Why it matters: The deployment step demonstrates how the final pipeline can make a prediction for a new startup.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17. Expert Consensus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39496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Key facts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Marketing expert: Marketing supports market reach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Top CEO: model must be explainable in business meetings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Policy expert: State needs more data before strong claims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R&amp;D expert: R&amp;D is the core innovation signal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43000"/>
            <a:ext cx="507492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Narration summary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The expert panel agrees that R&amp;D is the core signal, Marketing adds business context, and State should not be overinterpreted.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349240"/>
            <a:ext cx="10789920" cy="777240"/>
          </a:xfrm>
          <a:prstGeom prst="roundRect">
            <a:avLst/>
          </a:prstGeom>
          <a:solidFill>
            <a:srgbClr val="FEF3C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Why it matters: The expert panel makes the model interpretation more realistic and business-facing.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18. Limitations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39496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Key facts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Only 50 observations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Observational data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Possible multicollinearity between R&amp;D and Marketing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State has limited samples per category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Results are predictive associations, not causal conclusions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43000"/>
            <a:ext cx="507492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Narration summary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The dataset is small and observational, so the results should be interpreted carefully.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349240"/>
            <a:ext cx="10789920" cy="777240"/>
          </a:xfrm>
          <a:prstGeom prst="roundRect">
            <a:avLst/>
          </a:prstGeom>
          <a:solidFill>
            <a:srgbClr val="FEF3C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Why it matters: Limitations prevent overclaiming and guide future improvements.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19. Artifacts Produced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39496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Key facts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V1 and V2 CRISP-DM Python scripts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Technical charts and CSV summaries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Final model pipeline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20-slide PPT with notes and male narration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HeyGen and Hyperframes packages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43000"/>
            <a:ext cx="507492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Narration summary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The final project includes scripts, charts, summaries, models, and presentation files.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349240"/>
            <a:ext cx="10789920" cy="777240"/>
          </a:xfrm>
          <a:prstGeom prst="roundRect">
            <a:avLst/>
          </a:prstGeom>
          <a:solidFill>
            <a:srgbClr val="FEF3C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Why it matters: The project includes code, reports, visuals, models, and presentation materials.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1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937"/>
                </a:solidFill>
              </a:defRPr>
            </a:pPr>
            <a:r>
              <a:t>20. Final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539496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Key facts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R&amp;D Spend is the strongest predictor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Marketing Spend adds secondary business value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Administration and State add limited value here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Use R&amp;D + Marketing as the main model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Keep R&amp;D only as the benchmark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143000"/>
            <a:ext cx="5074920" cy="388620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/>
          <a:lstStyle/>
          <a:p>
            <a:pPr algn="ctr">
              <a:defRPr b="1" sz="1700">
                <a:solidFill>
                  <a:srgbClr val="2563EB"/>
                </a:solidFill>
              </a:defRPr>
            </a:pPr>
            <a:r>
              <a:t>Narration summary</a:t>
            </a:r>
          </a:p>
          <a:p>
            <a:pPr>
              <a:defRPr sz="1400">
                <a:solidFill>
                  <a:srgbClr val="1F2937"/>
                </a:solidFill>
              </a:defRPr>
            </a:pPr>
            <a:r>
              <a:t>The final conclusion is to use R&amp;D Spend plus Marketing Spend as the main model, while keeping R&amp;D Spend alone as the benchmark.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349240"/>
            <a:ext cx="10789920" cy="777240"/>
          </a:xfrm>
          <a:prstGeom prst="roundRect">
            <a:avLst/>
          </a:prstGeom>
          <a:solidFill>
            <a:srgbClr val="FEF3C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2937"/>
                </a:solidFill>
              </a:defRPr>
            </a:pPr>
            <a:r>
              <a:t>Why it matters: This conclusion is supported by model evaluation and feature selection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